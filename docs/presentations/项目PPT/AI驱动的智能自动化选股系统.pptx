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7.svg" ContentType="image/svg+xml"/>
  <Override PartName="/ppt/media/image40.svg" ContentType="image/svg+xml"/>
  <Override PartName="/ppt/media/image42.svg" ContentType="image/svg+xml"/>
  <Override PartName="/ppt/media/image45.svg" ContentType="image/svg+xml"/>
  <Override PartName="/ppt/media/image48.svg" ContentType="image/svg+xml"/>
  <Override PartName="/ppt/media/image5.svg" ContentType="image/svg+xml"/>
  <Override PartName="/ppt/media/image52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3.svg" ContentType="image/svg+xml"/>
  <Override PartName="/ppt/media/image65.svg" ContentType="image/svg+xml"/>
  <Override PartName="/ppt/media/image69.svg" ContentType="image/svg+xml"/>
  <Override PartName="/ppt/media/image7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1.svg" ContentType="image/svg+xml"/>
  <Override PartName="/ppt/media/image8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介绍一个激动人心的项目——一个由AI驱动的智能自动化选股系统。这个系统旨在通过整合前沿的自动化工具和强大的AI能力，打造一个从数据获取到最终决策的全流程解决方案，彻底改变传统投研的模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五个部分。首先，我会介绍项目的整体愿景和核心价值。接着，详细解析系统的三级流水线架构。然后，我们会深入了解构成这个系统的核心技术栈。之后，我会一步步讲解具体的实施步骤。最后，对项目进行总结并展望未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愿景非常明确：就是要打造一个全天候的智能投研助理。通过自动化和AI技术，我们希望将分析师从繁琐的数据工作中解放出来，让他们能专注于更高价值的策略研究。这个系统将7x24小时不间断地为我们工作，从海量数据中寻找潜在的投资机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目标是实现一个完整的投资决策闭环。这包括四个关键步骤：首先，自动抓取数据源；其次，利用AI进行深度分析；然后，生成结构化的选股结果；最后，通过飞书实时推送给用户。这四个环节无缝衔接，构成了一个高效、自动化的工作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项目能带来四大核心价值。首先是效率的巨大提升，让分析师能做更有价值的事。其次是决策的增强，通过量化规则减少人为偏见。第三是实时性，确保我们能第一时间掌握市场动态。最后是系统的可扩展性，为未来的功能迭代打下坚实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接下来我们看系统架构。我们采用了一个三级流水线架构，分别是数据层、智能层和触达层。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首先是左侧的数据层，负责抓取和整理数据，确保数据的标准化；中间是智能层，这是我们的决策核心，利用AI模型进行深度分析；最右侧是触达层，负责将最终结果高效地推送给用户。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这种分层设计使得系统各部分职责清晰，非常易于维护和扩展，为业务的快速迭代提供了坚实的技术底座。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看各层的职责。数据层由N8N驱动，负责数据的采集和预处理。智能层是系统的大脑，由OpenClaw、LangChain和大模型组成，负责执行选股逻辑。最后，触达层通过飞书机器人，将结果精准地推送给用户，完成整个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现在，我们来深入了解一下构建这个系统的四大核心技术：N8N、OpenClaw、LangChain和飞书。它们各自扮演着不可或缺的角色，共同构成了这个强大的自动化选股系统。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首先是N8N，它是我们系统的自动化引擎。通过它的图形化界面，我们可以轻松地搭建起数据采集和处理的工作流，就像搭积木一样。它的开源特性和丰富的节点生态，让我们能够灵活地连接各种数据源和服务。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接下来是OpenClaw，我们系统的AI核心。它提供了一个强大的Agent平台，让我们可以方便地创建和管理像“选股分析师”这样的智能体。通过简单的配置和少量代码，我们就能赋予AI强大的业务处理能力。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LangChain是连接大模型和外部世界的桥梁。它在我们的系统中扮演着逻辑编排器的角色，让AI不仅能思考，还能调用工具去执行复杂的计算任务，比如计算技术指标。正是LangChain，让大模型的能力得到了极大的扩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最后是飞书，我们系统的结果触达通道。通过飞书机器人，我们可以将选股结果实时、精准地推送到用户的工作台上。作为主流的办公软件，飞书保证了信息的及时传达和良好的用户体验。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进入实施步骤。第一步是搭建N8N的数据采集工作流。我们会设置一个定时触发器，在每天盘后自动启动。然后，系统会读取股票列表，循环调用API获取每只股票的行情和财务数据，并将这些数据整合成标准格式，为下一步的AI分析做好准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是构建我们的AI核心——OpenClaw智能分析服务。我们会创建一个名为StockAnalyzer的Agent，并通过系统提示词赋予它专业的选股知识和规则。同时，我们还会编写一些自定义工具，来处理像技术指标计算这类复杂任务，确保分析的准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第三步是实现N8N和OpenClaw的联动。在N8N工作流中，我们会添加一个HTTP请求节点，将收集到的数据发送给OpenClaw进行分析。然后，我们会处理返回的结果，将AI筛选出的股票列表提取出来，为最后的推送做准备。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最后一步，也是最关键的一步，就是将结果触达用户。我们在N8N中添加飞书机器人节点，将AI选出的股票列表格式化成一条清晰的消息，然后实时推送到用户的飞书。这样，整个自动化选股流程就圆满完成了。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在开始搭建之前，我们需要做好一些准备工作。主要包括配置OpenClaw的环境变量，填入各个服务的API密钥，以及安装必要的Python数据处理库。这些是系统能够正常运行的基础保障。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左侧展示了OpenClaw的核心配置文件格式，您需要特别注意将其中的"your API Key"替换为您在DeepSeek、N8N和飞书开发者平台申请到的真实密钥。这个配置文件位于项目根目录的agents.defaults.json中。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右侧是Python依赖的安装命令。我们推荐在虚拟环境中执行这些命令，以避免包冲突。这些库包括pandas用于数据处理，numpy用于数值计算，以及yfinance和ta-lib用于获取金融数据和技术指标分析。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完成这两步后，您的开发环境就准备就绪了。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为了确保系统的稳定运行，我们还需要一些运维措施。包括对OpenClaw进行健康监控，定期备份N8N的工作流，以及密切关注大模型API的使用情况。这些措施能帮助我们及时发现并解决潜在问题，保证系统的可靠性。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通过这套技术架构，成功打造了一个自动化的智能选股系统，实现了效率和决策科学性的双重提升。展望未来，这个系统还有巨大的扩展空间，比如优化选股策略、增加回测功能、开发可视化看板，甚至对接交易API实现全自动交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我的介绍到此结束，感谢大家的聆听。现在是问答环节，欢迎大家提问。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11.png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4.svg"/><Relationship Id="rId10" Type="http://schemas.openxmlformats.org/officeDocument/2006/relationships/image" Target="../media/image13.png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svg"/><Relationship Id="rId8" Type="http://schemas.openxmlformats.org/officeDocument/2006/relationships/image" Target="../media/image31.png"/><Relationship Id="rId7" Type="http://schemas.openxmlformats.org/officeDocument/2006/relationships/image" Target="../media/image30.svg"/><Relationship Id="rId6" Type="http://schemas.openxmlformats.org/officeDocument/2006/relationships/image" Target="../media/image2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image" Target="../media/image34.svg"/><Relationship Id="rId6" Type="http://schemas.openxmlformats.org/officeDocument/2006/relationships/image" Target="../media/image33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7.svg"/><Relationship Id="rId7" Type="http://schemas.openxmlformats.org/officeDocument/2006/relationships/image" Target="../media/image36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5.jpe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2.svg"/><Relationship Id="rId7" Type="http://schemas.openxmlformats.org/officeDocument/2006/relationships/image" Target="../media/image41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8.jpe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8.svg"/><Relationship Id="rId7" Type="http://schemas.openxmlformats.org/officeDocument/2006/relationships/image" Target="../media/image47.png"/><Relationship Id="rId6" Type="http://schemas.openxmlformats.org/officeDocument/2006/relationships/image" Target="../media/image5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2.svg"/><Relationship Id="rId7" Type="http://schemas.openxmlformats.org/officeDocument/2006/relationships/image" Target="../media/image51.png"/><Relationship Id="rId6" Type="http://schemas.openxmlformats.org/officeDocument/2006/relationships/image" Target="../media/image7.svg"/><Relationship Id="rId5" Type="http://schemas.openxmlformats.org/officeDocument/2006/relationships/image" Target="../media/image50.png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" Type="http://schemas.openxmlformats.org/officeDocument/2006/relationships/image" Target="../media/image49.jpe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png"/><Relationship Id="rId8" Type="http://schemas.openxmlformats.org/officeDocument/2006/relationships/image" Target="../media/image59.svg"/><Relationship Id="rId7" Type="http://schemas.openxmlformats.org/officeDocument/2006/relationships/image" Target="../media/image58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Relationship Id="rId3" Type="http://schemas.openxmlformats.org/officeDocument/2006/relationships/image" Target="../media/image54.png"/><Relationship Id="rId2" Type="http://schemas.openxmlformats.org/officeDocument/2006/relationships/image" Target="../media/image53.jpe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4.svg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7.svg"/><Relationship Id="rId3" Type="http://schemas.openxmlformats.org/officeDocument/2006/relationships/image" Target="../media/image50.png"/><Relationship Id="rId2" Type="http://schemas.openxmlformats.org/officeDocument/2006/relationships/image" Target="../media/image61.jpeg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3.svg"/><Relationship Id="rId6" Type="http://schemas.openxmlformats.org/officeDocument/2006/relationships/image" Target="../media/image62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" Type="http://schemas.openxmlformats.org/officeDocument/2006/relationships/image" Target="../media/image8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0.svg"/><Relationship Id="rId6" Type="http://schemas.openxmlformats.org/officeDocument/2006/relationships/image" Target="../media/image67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image" Target="../media/image26.svg"/><Relationship Id="rId2" Type="http://schemas.openxmlformats.org/officeDocument/2006/relationships/image" Target="../media/image66.png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9.svg"/><Relationship Id="rId4" Type="http://schemas.openxmlformats.org/officeDocument/2006/relationships/image" Target="../media/image68.png"/><Relationship Id="rId3" Type="http://schemas.openxmlformats.org/officeDocument/2006/relationships/image" Target="../media/image40.svg"/><Relationship Id="rId2" Type="http://schemas.openxmlformats.org/officeDocument/2006/relationships/image" Target="../media/image67.png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.svg"/><Relationship Id="rId7" Type="http://schemas.openxmlformats.org/officeDocument/2006/relationships/image" Target="../media/image46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72.svg"/><Relationship Id="rId3" Type="http://schemas.openxmlformats.org/officeDocument/2006/relationships/image" Target="../media/image71.png"/><Relationship Id="rId2" Type="http://schemas.openxmlformats.org/officeDocument/2006/relationships/image" Target="../media/image70.jpe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svg"/><Relationship Id="rId8" Type="http://schemas.openxmlformats.org/officeDocument/2006/relationships/image" Target="../media/image79.png"/><Relationship Id="rId7" Type="http://schemas.openxmlformats.org/officeDocument/2006/relationships/image" Target="../media/image78.svg"/><Relationship Id="rId6" Type="http://schemas.openxmlformats.org/officeDocument/2006/relationships/image" Target="../media/image77.png"/><Relationship Id="rId5" Type="http://schemas.openxmlformats.org/officeDocument/2006/relationships/image" Target="../media/image76.svg"/><Relationship Id="rId4" Type="http://schemas.openxmlformats.org/officeDocument/2006/relationships/image" Target="../media/image75.png"/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3" Type="http://schemas.openxmlformats.org/officeDocument/2006/relationships/notesSlide" Target="../notesSlides/notesSlide19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81.svg"/><Relationship Id="rId10" Type="http://schemas.openxmlformats.org/officeDocument/2006/relationships/image" Target="../media/image80.png"/><Relationship Id="rId1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5.png"/><Relationship Id="rId3" Type="http://schemas.openxmlformats.org/officeDocument/2006/relationships/image" Target="../media/image84.svg"/><Relationship Id="rId2" Type="http://schemas.openxmlformats.org/officeDocument/2006/relationships/image" Target="../media/image83.png"/><Relationship Id="rId1" Type="http://schemas.openxmlformats.org/officeDocument/2006/relationships/image" Target="../media/image8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125" t="3125" r="3125" b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0F19">
                  <a:alpha val="96000"/>
                </a:srgbClr>
              </a:gs>
              <a:gs pos="45000">
                <a:srgbClr val="0A0F19">
                  <a:alpha val="85000"/>
                </a:srgbClr>
              </a:gs>
              <a:gs pos="100000">
                <a:srgbClr val="0A0F19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145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spc="2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AI FINTECH 2026 | 智能量化投研新范式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222500"/>
            <a:ext cx="889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AI驱动的智能自动化选股系统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2385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从海量数据挖掘到精准交易决策的全流程智能解决方案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000500"/>
            <a:ext cx="1016000" cy="508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4699000"/>
            <a:ext cx="3175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5016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032000" y="4953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实时数据洞察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毫秒级捕获与清洗市场全量数据</a:t>
            </a:r>
            <a:endParaRPr lang="en-US" sz="1200" b="0" i="0" u="none" strike="noStrike">
              <a:solidFill>
                <a:srgbClr val="FFFFFF">
                  <a:alpha val="6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508500" y="4699000"/>
            <a:ext cx="3175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0" y="50165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524500" y="4953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智能算法决策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多因子模型+深度学习动态调参</a:t>
            </a:r>
            <a:endParaRPr lang="en-US" sz="1200" b="0" i="0" u="none" strike="noStrike">
              <a:solidFill>
                <a:srgbClr val="FFFFFF">
                  <a:alpha val="6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001000" y="4699000"/>
            <a:ext cx="3175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50165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017000" y="4953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自动化交易执行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策略无延时落地与智能风控护航</a:t>
            </a:r>
            <a:endParaRPr lang="en-US" sz="1200" b="0" i="0" u="none" strike="noStrike">
              <a:solidFill>
                <a:srgbClr val="FFFFFF">
                  <a:alpha val="6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1020" t="1086" r="1020" b="108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27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35000" y="1905000"/>
            <a:ext cx="2032000" cy="3683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  <a:effectLst>
            <a:outerShdw blurRad="1270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06500" y="2286000"/>
            <a:ext cx="889000" cy="8890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3500" y="2413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62000" y="330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</a:t>
            </a:r>
            <a:b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699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打造全天候</a:t>
            </a:r>
            <a:b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智能投研助理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794000" y="1905000"/>
            <a:ext cx="2032000" cy="3683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  <a:effectLst>
            <a:outerShdw blurRad="1270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365500" y="2286000"/>
            <a:ext cx="889000" cy="8890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2500" y="2413000"/>
            <a:ext cx="635000" cy="635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921000" y="330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921000" y="3810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</a:t>
            </a:r>
            <a:b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总览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921000" y="4699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三级流水线</a:t>
            </a:r>
            <a:b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953000" y="1905000"/>
            <a:ext cx="2032000" cy="3683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  <a:effectLst>
            <a:outerShdw blurRad="1270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524500" y="2286000"/>
            <a:ext cx="889000" cy="8890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500" y="2413000"/>
            <a:ext cx="635000" cy="635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080000" y="330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080000" y="3810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</a:t>
            </a:r>
            <a:b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栈介绍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080000" y="4699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N8N, OpenClaw</a:t>
            </a:r>
            <a:b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LangChain, 飞书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112000" y="1905000"/>
            <a:ext cx="2032000" cy="3683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  <a:effectLst>
            <a:outerShdw blurRad="1270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83500" y="2286000"/>
            <a:ext cx="889000" cy="8890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10500" y="2413000"/>
            <a:ext cx="635000" cy="635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239000" y="330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239000" y="3810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实施步骤</a:t>
            </a:r>
            <a:b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详解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239000" y="4699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从数据采集</a:t>
            </a:r>
            <a:b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到结果触达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271000" y="1905000"/>
            <a:ext cx="2032000" cy="3683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  <a:effectLst>
            <a:outerShdw blurRad="1270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9842500" y="2286000"/>
            <a:ext cx="889000" cy="8890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69500" y="2413000"/>
            <a:ext cx="635000" cy="635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9398000" y="3302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398000" y="3810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</a:t>
            </a:r>
            <a:b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展望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398000" y="4699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</a:t>
            </a:r>
            <a:b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与未来规划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9FF14">
                  <a:alpha val="0"/>
                </a:srgbClr>
              </a:gs>
              <a:gs pos="50000">
                <a:srgbClr val="39FF14">
                  <a:alpha val="80000"/>
                </a:srgbClr>
              </a:gs>
              <a:gs pos="100000">
                <a:srgbClr val="39FF14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125" t="3125" r="3125" b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25500" y="863600"/>
            <a:ext cx="76200" cy="4064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项目概述与核心价值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10160000" cy="762000"/>
          </a:xfrm>
          <a:prstGeom prst="roundRect">
            <a:avLst>
              <a:gd name="adj" fmla="val 16666"/>
            </a:avLst>
          </a:prstGeom>
          <a:solidFill>
            <a:srgbClr val="39FF14">
              <a:alpha val="15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70000" y="18415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核心愿景：打造7x24小时全天候智能投研助理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3175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095500" y="3111500"/>
            <a:ext cx="1016000" cy="1016000"/>
          </a:xfrm>
          <a:prstGeom prst="ellipse">
            <a:avLst/>
          </a:prstGeom>
          <a:solidFill>
            <a:srgbClr val="39FF1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9500" y="3365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143000" y="4254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端到端自动化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整合前沿工作流工具，实现选股流程自动化闭环</a:t>
            </a:r>
            <a:endParaRPr lang="en-US" sz="1200" b="0" i="0" u="none" strike="noStrike">
              <a:solidFill>
                <a:srgbClr val="E5E7EB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508500" y="2794000"/>
            <a:ext cx="3175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588000" y="3111500"/>
            <a:ext cx="1016000" cy="1016000"/>
          </a:xfrm>
          <a:prstGeom prst="ellipse">
            <a:avLst/>
          </a:prstGeom>
          <a:solidFill>
            <a:srgbClr val="39FF1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0" y="3365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635500" y="4254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深度赋能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依托大模型算力，从海量数据中精准挖掘投资机会</a:t>
            </a:r>
            <a:endParaRPr lang="en-US" sz="1200" b="0" i="0" u="none" strike="noStrike">
              <a:solidFill>
                <a:srgbClr val="E5E7EB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01000" y="2794000"/>
            <a:ext cx="3175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080500" y="3111500"/>
            <a:ext cx="1016000" cy="1016000"/>
          </a:xfrm>
          <a:prstGeom prst="ellipse">
            <a:avLst/>
          </a:prstGeom>
          <a:solidFill>
            <a:srgbClr val="39FF1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34500" y="33655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128000" y="4254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7x24h 实时响应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彻底改变人工筛选低效模式，随时待命的智能助手</a:t>
            </a:r>
            <a:endParaRPr lang="en-US" sz="1200" b="0" i="0" u="none" strike="noStrike">
              <a:solidFill>
                <a:srgbClr val="E5E7EB">
                  <a:alpha val="8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1016000" y="5461000"/>
            <a:ext cx="10160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143000" y="55245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价值总结：将分析师从繁琐的数据整理与初步筛选中解放出来，使其专注于更高价值的策略逻辑构建与深度研究。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846" t="3760" r="3846" b="3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812800"/>
            <a:ext cx="76200" cy="4064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r="2700000" algn="tl" rotWithShape="0">
              <a:srgbClr val="39FF14">
                <a:alpha val="5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项目概述与核心价值：投资决策全流程闭环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524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致力于打通从数据获取到最终决策的每一个环节，构建无缝衔接的自动化流水线，让投资决策更高效、更精准。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2413000" cy="3048000"/>
          </a:xfrm>
          <a:prstGeom prst="roundRect">
            <a:avLst>
              <a:gd name="adj" fmla="val 5263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1500" y="2794000"/>
            <a:ext cx="762000" cy="762000"/>
          </a:xfrm>
          <a:prstGeom prst="rect">
            <a:avLst/>
          </a:prstGeom>
          <a:effectLst>
            <a:outerShdw blurRad="190500" dir="2700000" algn="tl" rotWithShape="0">
              <a:srgbClr val="39FF14">
                <a:alpha val="60000"/>
              </a:srgbClr>
            </a:outerShdw>
          </a:effectLst>
        </p:spPr>
      </p:pic>
      <p:sp>
        <p:nvSpPr>
          <p:cNvPr id="9" name="AutoShape 9"/>
          <p:cNvSpPr/>
          <p:nvPr/>
        </p:nvSpPr>
        <p:spPr>
          <a:xfrm>
            <a:off x="1143000" y="3810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数据源自动抓取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06500" y="4318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定时自动从权威财经API获取最新行情与财务数据，确保源头准确。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56000" y="2413000"/>
            <a:ext cx="2413000" cy="3048000"/>
          </a:xfrm>
          <a:prstGeom prst="roundRect">
            <a:avLst>
              <a:gd name="adj" fmla="val 5263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1500" y="2794000"/>
            <a:ext cx="762000" cy="762000"/>
          </a:xfrm>
          <a:prstGeom prst="rect">
            <a:avLst/>
          </a:prstGeom>
          <a:effectLst>
            <a:outerShdw blurRad="190500" dir="2700000" algn="tl" rotWithShape="0">
              <a:srgbClr val="39FF14">
                <a:alpha val="60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3683000" y="3810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深度分析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746500" y="4318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利用LLM大模型推理能力结合专业量化策略，对海量数据进行深度价值挖掘。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096000" y="2413000"/>
            <a:ext cx="2413000" cy="3048000"/>
          </a:xfrm>
          <a:prstGeom prst="roundRect">
            <a:avLst>
              <a:gd name="adj" fmla="val 5263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21500" y="2794000"/>
            <a:ext cx="762000" cy="762000"/>
          </a:xfrm>
          <a:prstGeom prst="rect">
            <a:avLst/>
          </a:prstGeom>
          <a:effectLst>
            <a:outerShdw blurRad="190500" dir="2700000" algn="tl" rotWithShape="0">
              <a:srgbClr val="39FF14">
                <a:alpha val="60000"/>
              </a:srgbClr>
            </a:outerShdw>
          </a:effectLst>
        </p:spPr>
      </p:pic>
      <p:sp>
        <p:nvSpPr>
          <p:cNvPr id="17" name="AutoShape 17"/>
          <p:cNvSpPr/>
          <p:nvPr/>
        </p:nvSpPr>
        <p:spPr>
          <a:xfrm>
            <a:off x="6223000" y="3810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结构化选股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86500" y="4318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输出清晰、标准化的选股结果，包含代码、入选逻辑及关键财务指标。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636000" y="2413000"/>
            <a:ext cx="2413000" cy="3048000"/>
          </a:xfrm>
          <a:prstGeom prst="roundRect">
            <a:avLst>
              <a:gd name="adj" fmla="val 5263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61500" y="2794000"/>
            <a:ext cx="762000" cy="762000"/>
          </a:xfrm>
          <a:prstGeom prst="rect">
            <a:avLst/>
          </a:prstGeom>
          <a:effectLst>
            <a:outerShdw blurRad="190500" dir="2700000" algn="tl" rotWithShape="0">
              <a:srgbClr val="39FF14">
                <a:alpha val="60000"/>
              </a:srgbClr>
            </a:outerShdw>
          </a:effectLst>
        </p:spPr>
      </p:pic>
      <p:sp>
        <p:nvSpPr>
          <p:cNvPr id="21" name="AutoShape 21"/>
          <p:cNvSpPr/>
          <p:nvPr/>
        </p:nvSpPr>
        <p:spPr>
          <a:xfrm>
            <a:off x="8763000" y="3810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飞书实时推送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826500" y="4318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将最终决策结果毫秒级推送到飞书工作台或指定群聊，确保信息及时触达。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4297">
            <a:off x="1016004" y="583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1016000" y="5969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spc="200">
                <a:solidFill>
                  <a:srgbClr val="39FF14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全流程自动化 · 数据驱动决策 · 实时触达响应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项目核心价值：效率、决策与创新赋能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460500"/>
            <a:ext cx="762000" cy="508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2349500" cy="3683000"/>
          </a:xfrm>
          <a:prstGeom prst="roundRect">
            <a:avLst>
              <a:gd name="adj" fmla="val 5405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2300" y="2413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16000" y="31750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效率提升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3683000"/>
            <a:ext cx="2095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解放分析师从繁琐的数据收集与初筛工作，将精力聚焦于高价值的策略研究与投资决策。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56000" y="2032000"/>
            <a:ext cx="2349500" cy="3683000"/>
          </a:xfrm>
          <a:prstGeom prst="roundRect">
            <a:avLst>
              <a:gd name="adj" fmla="val 5405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32300" y="2413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556000" y="31750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决策增强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3683000"/>
            <a:ext cx="2095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基于客观、量化的规则进行筛选，有效规避人为情绪波动与主观偏见，提升投资胜率。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96000" y="2032000"/>
            <a:ext cx="2349500" cy="3683000"/>
          </a:xfrm>
          <a:prstGeom prst="roundRect">
            <a:avLst>
              <a:gd name="adj" fmla="val 5405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72300" y="24130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096000" y="31750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实时响应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3683000"/>
            <a:ext cx="2095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盘后自动运行数据处理，确保次日开盘前输出精准分析结果，助力抢占市场交易先机。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636000" y="2032000"/>
            <a:ext cx="2349500" cy="3683000"/>
          </a:xfrm>
          <a:prstGeom prst="roundRect">
            <a:avLst>
              <a:gd name="adj" fmla="val 5405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12300" y="2413000"/>
            <a:ext cx="609600" cy="609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636000" y="31750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灵活扩展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763000" y="3683000"/>
            <a:ext cx="20955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采用模块化架构设计，支持快速接入新数据源、迭代选股策略，并可无缝扩展至其他金融场景。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5969000"/>
            <a:ext cx="9969500" cy="508000"/>
          </a:xfrm>
          <a:prstGeom prst="roundRect">
            <a:avLst>
              <a:gd name="adj" fmla="val 125000"/>
            </a:avLst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AI驱动的量化投研新范式，重塑分析师工作流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4545" t="4545" r="4545" b="454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系统架构总览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460500"/>
            <a:ext cx="7620000" cy="508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3048000" cy="3429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25400" cap="flat" cmpd="sng">
            <a:solidFill>
              <a:srgbClr val="39FF14">
                <a:alpha val="10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39FF14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841500" y="2349500"/>
            <a:ext cx="1397000" cy="13970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500" y="2603500"/>
            <a:ext cx="889000" cy="889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3873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 Data Layer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06500" y="4381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负责全渠道数据采集、清洗与标准化格式化处理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70000" y="5143500"/>
            <a:ext cx="2540000" cy="304800"/>
          </a:xfrm>
          <a:prstGeom prst="roundRect">
            <a:avLst>
              <a:gd name="adj" fmla="val 50000"/>
            </a:avLst>
          </a:prstGeom>
          <a:solidFill>
            <a:srgbClr val="39FF1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技术栈：N8N / 数据爬虫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0" y="2032000"/>
            <a:ext cx="3048000" cy="3429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25400" cap="flat" cmpd="sng">
            <a:solidFill>
              <a:srgbClr val="39FF14">
                <a:alpha val="10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39FF14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143500" y="2349500"/>
            <a:ext cx="1397000" cy="13970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7500" y="2603500"/>
            <a:ext cx="889000" cy="889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445000" y="3873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智能层 AI Layer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08500" y="4381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基于OpenClaw大模型进行核心业务决策与意图识别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72000" y="5143500"/>
            <a:ext cx="2540000" cy="304800"/>
          </a:xfrm>
          <a:prstGeom prst="roundRect">
            <a:avLst>
              <a:gd name="adj" fmla="val 50000"/>
            </a:avLst>
          </a:prstGeom>
          <a:solidFill>
            <a:srgbClr val="39FF1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技术栈：OpenClaw / LLM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0" y="2032000"/>
            <a:ext cx="3048000" cy="3429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25400" cap="flat" cmpd="sng">
            <a:solidFill>
              <a:srgbClr val="39FF14">
                <a:alpha val="10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39FF14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445500" y="2349500"/>
            <a:ext cx="1397000" cy="13970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99500" y="2603500"/>
            <a:ext cx="889000" cy="889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747000" y="3873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触达层 Notification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810500" y="4381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将分析结果实时推送至飞书/企微，实现高效触达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874000" y="5143500"/>
            <a:ext cx="2540000" cy="304800"/>
          </a:xfrm>
          <a:prstGeom prst="roundRect">
            <a:avLst>
              <a:gd name="adj" fmla="val 50000"/>
            </a:avLst>
          </a:prstGeom>
          <a:solidFill>
            <a:srgbClr val="39FF1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技术栈：飞书机器人 / Webhook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16000" y="5778500"/>
            <a:ext cx="10160000" cy="558800"/>
          </a:xfrm>
          <a:prstGeom prst="roundRect">
            <a:avLst>
              <a:gd name="adj" fmla="val 22727"/>
            </a:avLst>
          </a:prstGeom>
          <a:gradFill rotWithShape="1">
            <a:gsLst>
              <a:gs pos="0">
                <a:srgbClr val="39FF14">
                  <a:alpha val="15000"/>
                </a:srgbClr>
              </a:gs>
              <a:gs pos="50000">
                <a:srgbClr val="39FF14">
                  <a:alpha val="30000"/>
                </a:srgbClr>
              </a:gs>
              <a:gs pos="100000">
                <a:srgbClr val="39FF14">
                  <a:alpha val="15000"/>
                </a:srgbClr>
              </a:gs>
            </a:gsLst>
            <a:lin ang="0"/>
          </a:gradFill>
          <a:ln w="12700" cap="flat" cmpd="sng">
            <a:solidFill>
              <a:srgbClr val="39FF14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架构优势：职责明确 • 低耦合设计 • 模块化扩展 • 高可维护性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941" t="2961" r="2941" b="296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1E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6985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系统架构总览：从数据采集到智能触达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397000"/>
            <a:ext cx="10160000" cy="508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3175000" cy="4127500"/>
          </a:xfrm>
          <a:prstGeom prst="roundRect">
            <a:avLst>
              <a:gd name="adj" fmla="val 4800"/>
            </a:avLst>
          </a:prstGeom>
          <a:solidFill>
            <a:srgbClr val="19232D">
              <a:alpha val="92000"/>
            </a:srgbClr>
          </a:solidFill>
          <a:ln w="12700" cap="flat" cmpd="sng">
            <a:solidFill>
              <a:srgbClr val="39FF14">
                <a:alpha val="60000"/>
              </a:srgbClr>
            </a:solidFill>
            <a:prstDash val="solid"/>
            <a:round/>
          </a:ln>
          <a:effectLst>
            <a:outerShdw blurRad="190500" dir="2700000" algn="tl" rotWithShape="0">
              <a:srgbClr val="39FF14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841500" y="2159000"/>
            <a:ext cx="762000" cy="7620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8500" y="2286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3048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 Data Layer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06500" y="3556000"/>
            <a:ext cx="2794000" cy="457200"/>
          </a:xfrm>
          <a:prstGeom prst="roundRect">
            <a:avLst>
              <a:gd name="adj" fmla="val 16666"/>
            </a:avLst>
          </a:prstGeom>
          <a:solidFill>
            <a:srgbClr val="39FF1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核心组件：N8N 调度引擎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06500" y="4127500"/>
            <a:ext cx="2794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作为系统“调度中心”，定时触发多源数据采集任务，抓取原始数据并完成初步清洗与格式化，保障数据质量。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08500" y="1841500"/>
            <a:ext cx="3175000" cy="4127500"/>
          </a:xfrm>
          <a:prstGeom prst="roundRect">
            <a:avLst>
              <a:gd name="adj" fmla="val 4800"/>
            </a:avLst>
          </a:prstGeom>
          <a:solidFill>
            <a:srgbClr val="19232D">
              <a:alpha val="92000"/>
            </a:srgbClr>
          </a:solidFill>
          <a:ln w="12700" cap="flat" cmpd="sng">
            <a:solidFill>
              <a:srgbClr val="39FF14">
                <a:alpha val="60000"/>
              </a:srgbClr>
            </a:solidFill>
            <a:prstDash val="solid"/>
            <a:round/>
          </a:ln>
          <a:effectLst>
            <a:outerShdw blurRad="190500" dir="2700000" algn="tl" rotWithShape="0">
              <a:srgbClr val="39FF14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334000" y="2159000"/>
            <a:ext cx="762000" cy="7620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1000" y="2286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635500" y="3048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智能层 AI Layer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3556000"/>
            <a:ext cx="2794000" cy="457200"/>
          </a:xfrm>
          <a:prstGeom prst="roundRect">
            <a:avLst>
              <a:gd name="adj" fmla="val 16666"/>
            </a:avLst>
          </a:prstGeom>
          <a:solidFill>
            <a:srgbClr val="39FF1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核心组件：OpenClaw / LLM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99000" y="4127500"/>
            <a:ext cx="2794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系统的“决策大脑”。通过预设的“选股分析师”Agent，接收数据并执行复杂的逻辑推理，输出高置信度的选股策略。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01000" y="1841500"/>
            <a:ext cx="3175000" cy="4127500"/>
          </a:xfrm>
          <a:prstGeom prst="roundRect">
            <a:avLst>
              <a:gd name="adj" fmla="val 4800"/>
            </a:avLst>
          </a:prstGeom>
          <a:solidFill>
            <a:srgbClr val="19232D">
              <a:alpha val="92000"/>
            </a:srgbClr>
          </a:solidFill>
          <a:ln w="12700" cap="flat" cmpd="sng">
            <a:solidFill>
              <a:srgbClr val="39FF14">
                <a:alpha val="60000"/>
              </a:srgbClr>
            </a:solidFill>
            <a:prstDash val="solid"/>
            <a:round/>
          </a:ln>
          <a:effectLst>
            <a:outerShdw blurRad="190500" dir="2700000" algn="tl" rotWithShape="0">
              <a:srgbClr val="39FF14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826500" y="2159000"/>
            <a:ext cx="762000" cy="7620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53500" y="22860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128000" y="3048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触达层 Notification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91500" y="3556000"/>
            <a:ext cx="2794000" cy="457200"/>
          </a:xfrm>
          <a:prstGeom prst="roundRect">
            <a:avLst>
              <a:gd name="adj" fmla="val 16666"/>
            </a:avLst>
          </a:prstGeom>
          <a:solidFill>
            <a:srgbClr val="39FF1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核心组件：飞书机器人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91500" y="4127500"/>
            <a:ext cx="2794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系统的“输出终端”。将AI生成的选股结果及分析报告，以结构化、可视化的格式实时推送到用户指定的协作渠道。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16000" y="6223000"/>
            <a:ext cx="10160000" cy="381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9FF14">
                  <a:alpha val="10000"/>
                </a:srgbClr>
              </a:gs>
              <a:gs pos="50000">
                <a:srgbClr val="39FF14">
                  <a:alpha val="25000"/>
                </a:srgbClr>
              </a:gs>
              <a:gs pos="100000">
                <a:srgbClr val="39FF14">
                  <a:alpha val="1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AI 驱动 · 全链路自动化 · 实时决策闭环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4716" t="4697" r="4716" b="469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核心技术栈介绍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905000"/>
            <a:ext cx="2413000" cy="330200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9100" y="2222500"/>
            <a:ext cx="812800" cy="812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89000" y="3175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N8N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6195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自动化引擎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064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实现任务流程的自动化执行，解放重复劳动力，提升操作效率与准确性。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56000" y="1905000"/>
            <a:ext cx="2413000" cy="330200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6100" y="2222500"/>
            <a:ext cx="812800" cy="812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556000" y="3175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556000" y="36195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AI智能能力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83000" y="4064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提供强大的人工智能算力与模型支持，赋能深度数据分析与智能决策。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905000"/>
            <a:ext cx="2413000" cy="330200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3100" y="2222500"/>
            <a:ext cx="812800" cy="812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223000" y="3175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LangChain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36195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逻辑编排中枢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4064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串联多模态模型与工具链，灵活构建复杂的业务逻辑与推理路径。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90000" y="1905000"/>
            <a:ext cx="2413000" cy="330200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90100" y="2222500"/>
            <a:ext cx="812800" cy="812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890000" y="3175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飞书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890000" y="3619500"/>
            <a:ext cx="241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结果触达终端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017000" y="4064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将分析结果实时同步至协作平台，确保信息高效流转与团队即时响应。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89000" y="5461000"/>
            <a:ext cx="10414000" cy="7620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39FF14">
                  <a:alpha val="15000"/>
                </a:srgbClr>
              </a:gs>
              <a:gs pos="100000">
                <a:srgbClr val="39FF14">
                  <a:alpha val="5000"/>
                </a:srgbClr>
              </a:gs>
            </a:gsLst>
            <a:lin ang="0"/>
          </a:gra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89000" y="54610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四大技术协同发力，构建高效、智能、闭环的自动化选股系统核心能力基座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846" t="3760" r="3846" b="3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9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核心技术栈介绍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39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43000" y="1905000"/>
            <a:ext cx="3810000" cy="3810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l="9375" t="9375" r="9375" b="9375"/>
          <a:stretch>
            <a:fillRect/>
          </a:stretch>
        </p:blipFill>
        <p:spPr>
          <a:xfrm>
            <a:off x="1397000" y="2159000"/>
            <a:ext cx="3302000" cy="3302000"/>
          </a:xfrm>
          <a:prstGeom prst="ellipse">
            <a:avLst/>
          </a:prstGeom>
          <a:noFill/>
          <a:ln w="38100" cap="flat" cmpd="sng">
            <a:solidFill>
              <a:srgbClr val="39FF14">
                <a:alpha val="100000"/>
              </a:srgbClr>
            </a:solidFill>
            <a:prstDash val="solid"/>
            <a:round/>
          </a:ln>
          <a:effectLst>
            <a:outerShdw blurRad="254000" dir="2700000" algn="tl" rotWithShape="0">
              <a:srgbClr val="39FF14">
                <a:alpha val="30000"/>
              </a:srgbClr>
            </a:outerShdw>
          </a:effectLst>
        </p:spPr>
      </p:pic>
      <p:sp>
        <p:nvSpPr>
          <p:cNvPr id="8" name="AutoShape 8"/>
          <p:cNvSpPr/>
          <p:nvPr/>
        </p:nvSpPr>
        <p:spPr>
          <a:xfrm>
            <a:off x="1143000" y="5842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N8N 自动化引擎核心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461000" y="1778000"/>
            <a:ext cx="5715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2095500"/>
            <a:ext cx="711200" cy="711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667500" y="19050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系统调度中枢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作为系统的“自动化调度器”和“数据管道”，负责指令的高效分发与数据流转。</a:t>
            </a:r>
            <a:endParaRPr lang="en-US" sz="14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461000" y="3429000"/>
            <a:ext cx="5715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8500" y="3746500"/>
            <a:ext cx="711200" cy="711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667500" y="35560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可视化工作流构建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提供直观的图形化界面，轻松搭建复杂任务流，支持定时触发、HTTP请求及数据清洗转换。</a:t>
            </a:r>
            <a:endParaRPr lang="en-US" sz="14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461000" y="5080000"/>
            <a:ext cx="5715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78500" y="5359400"/>
            <a:ext cx="711200" cy="711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667500" y="5207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开源生态与扩展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完全开源、高度可扩展，拥有海量节点生态，可无缝连接各类应用与API接口。</a:t>
            </a:r>
            <a:endParaRPr lang="en-US" sz="1400" b="0" i="0" u="none" strike="noStrike">
              <a:solidFill>
                <a:srgbClr val="DCDCD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4194" t="4237" r="4289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核心技术栈介绍：OpenClaw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318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1298" t="2380" r="1298" b="2380"/>
          <a:stretch>
            <a:fillRect/>
          </a:stretch>
        </p:blipFill>
        <p:spPr>
          <a:xfrm>
            <a:off x="1270000" y="2032000"/>
            <a:ext cx="3810000" cy="2032000"/>
          </a:xfrm>
          <a:prstGeom prst="roundRect">
            <a:avLst>
              <a:gd name="adj" fmla="val 625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r="2700000" algn="tl" rotWithShape="0">
              <a:srgbClr val="39FF14">
                <a:alpha val="40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1206500" y="42545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灵活的AI Agent平台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Core of AI &amp; Business Logic</a:t>
            </a:r>
            <a:endParaRPr lang="en-US" sz="1400" b="0" i="0" u="none" strike="noStrike">
              <a:solidFill>
                <a:srgbClr val="39FF1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715000" y="1778000"/>
            <a:ext cx="5461000" cy="1143000"/>
          </a:xfrm>
          <a:prstGeom prst="roundRect">
            <a:avLst>
              <a:gd name="adj" fmla="val 8888"/>
            </a:avLst>
          </a:prstGeom>
          <a:solidFill>
            <a:srgbClr val="39FF1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9000" y="2032000"/>
            <a:ext cx="635000" cy="635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794500" y="1905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AI核心与业务容器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系统的神经中枢，承载核心业务逻辑与智能决策流</a:t>
            </a:r>
            <a:endParaRPr lang="en-US" sz="1400" b="0" i="0" u="none" strike="noStrike">
              <a:solidFill>
                <a:srgbClr val="E2E8F0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715000" y="3111500"/>
            <a:ext cx="5461000" cy="1143000"/>
          </a:xfrm>
          <a:prstGeom prst="roundRect">
            <a:avLst>
              <a:gd name="adj" fmla="val 8888"/>
            </a:avLst>
          </a:prstGeom>
          <a:solidFill>
            <a:srgbClr val="39FF1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9000" y="33655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794500" y="32385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Agent构建与管理平台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自定义Agent行为，灵活挂载工具插件，扩展能力边界</a:t>
            </a:r>
            <a:endParaRPr lang="en-US" sz="1400" b="0" i="0" u="none" strike="noStrike">
              <a:solidFill>
                <a:srgbClr val="E2E8F0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715000" y="4445000"/>
            <a:ext cx="5461000" cy="1143000"/>
          </a:xfrm>
          <a:prstGeom prst="roundRect">
            <a:avLst>
              <a:gd name="adj" fmla="val 8888"/>
            </a:avLst>
          </a:prstGeom>
          <a:solidFill>
            <a:srgbClr val="39FF1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69000" y="4699000"/>
            <a:ext cx="635000" cy="635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94500" y="4572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低门槛高效开发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化繁为简，通过可视化配置与轻量编码快速落地智能应用</a:t>
            </a:r>
            <a:endParaRPr lang="en-US" sz="1400" b="0" i="0" u="none" strike="noStrike">
              <a:solidFill>
                <a:srgbClr val="E2E8F0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0" y="6286500"/>
            <a:ext cx="12192000" cy="571500"/>
          </a:xfrm>
          <a:prstGeom prst="roundRect">
            <a:avLst>
              <a:gd name="adj" fmla="val 0"/>
            </a:avLst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— 释放AI Agent的无限潜能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核心技术栈介绍：LangChain 架构解析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3556000" cy="4064000"/>
          </a:xfrm>
          <a:prstGeom prst="roundRect">
            <a:avLst>
              <a:gd name="adj" fmla="val 357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  <a:effectLst>
            <a:outerShdw blurRad="254000" dir="2700000" algn="tl" rotWithShape="0">
              <a:srgbClr val="39FF14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18421" r="18421"/>
          <a:stretch>
            <a:fillRect/>
          </a:stretch>
        </p:blipFill>
        <p:spPr>
          <a:xfrm>
            <a:off x="1270000" y="2159000"/>
            <a:ext cx="3048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270000" y="3175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连接桥梁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打通大模型与外部世界的壁垒，让智能触手可及</a:t>
            </a:r>
            <a:endParaRPr lang="en-US" sz="14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270000" y="5207000"/>
            <a:ext cx="3048000" cy="508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953000" y="1778000"/>
            <a:ext cx="6223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207000" y="2032000"/>
            <a:ext cx="711200" cy="7112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0" y="2159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096000" y="19050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角色：逻辑编排器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连接LLM与自定义工具的中枢，负责系统内部的逻辑流转与任务分发。</a:t>
            </a:r>
            <a:endParaRPr lang="en-US" sz="1300" b="0" i="0" u="none" strike="noStrike">
              <a:solidFill>
                <a:srgbClr val="B4B4B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953000" y="3175000"/>
            <a:ext cx="6223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207000" y="3429000"/>
            <a:ext cx="711200" cy="7112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0" y="3556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096000" y="33020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功能：组件化引擎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提供提示词工程管理、工具调用链构建，简化复杂应用的开发流程。</a:t>
            </a:r>
            <a:endParaRPr lang="en-US" sz="1300" b="0" i="0" u="none" strike="noStrike">
              <a:solidFill>
                <a:srgbClr val="B4B4B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953000" y="4572000"/>
            <a:ext cx="6223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207000" y="4826000"/>
            <a:ext cx="711200" cy="7112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4000" y="49530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096000" y="46990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优势：能力倍增器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赋予大模型多步推理能力，使其能处理复杂任务并调用外部计算资源。</a:t>
            </a:r>
            <a:endParaRPr lang="en-US" sz="1300" b="0" i="0" u="none" strike="noStrike">
              <a:solidFill>
                <a:srgbClr val="B4B4B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016000" y="6223000"/>
            <a:ext cx="10160000" cy="381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9FF14">
                  <a:alpha val="0"/>
                </a:srgbClr>
              </a:gs>
              <a:gs pos="50000">
                <a:srgbClr val="39FF14">
                  <a:alpha val="100000"/>
                </a:srgbClr>
              </a:gs>
              <a:gs pos="100000">
                <a:srgbClr val="39FF14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923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核心技术栈介绍：飞书协同平台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572000" cy="3556000"/>
          </a:xfrm>
          <a:prstGeom prst="roundRect">
            <a:avLst>
              <a:gd name="adj" fmla="val 5714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14435" t="4545" r="14435" b="4545"/>
          <a:stretch>
            <a:fillRect/>
          </a:stretch>
        </p:blipFill>
        <p:spPr>
          <a:xfrm>
            <a:off x="1143000" y="1905000"/>
            <a:ext cx="4318000" cy="2540000"/>
          </a:xfrm>
          <a:prstGeom prst="roundRect">
            <a:avLst>
              <a:gd name="adj" fmla="val 6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r="2700000" algn="tl" rotWithShape="0">
              <a:srgbClr val="39FF14">
                <a:alpha val="20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1143000" y="4572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Lark - 先进团队先用先进工具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096000" y="1778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20447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1905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结果触达通道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作为系统信息流转的核心枢纽，确保所有选股策略结果精准触达用户。</a:t>
            </a:r>
            <a:endParaRPr lang="en-US" sz="1400" b="0" i="0" u="none" strike="noStrike">
              <a:solidFill>
                <a:srgbClr val="DCDCDC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096000" y="31115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33782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3238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自动化消息推送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对接N8N开放平台，通过机器人实时抓取任务结果并以卡片形式展示。</a:t>
            </a:r>
            <a:endParaRPr lang="en-US" sz="1400" b="0" i="0" u="none" strike="noStrike">
              <a:solidFill>
                <a:srgbClr val="DCDCDC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096000" y="4445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00" y="47117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4572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高效协同体验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主流办公软件深度集成，消息秒级触达，支持富文本交互，体验流畅。</a:t>
            </a:r>
            <a:endParaRPr lang="en-US" sz="1400" b="0" i="0" u="none" strike="noStrike">
              <a:solidFill>
                <a:srgbClr val="DCDCDC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016000" y="5969000"/>
            <a:ext cx="10160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9FF14">
                  <a:alpha val="100000"/>
                </a:srgbClr>
              </a:gs>
              <a:gs pos="100000">
                <a:srgbClr val="39FF14">
                  <a:alpha val="1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398" t="3448" r="3398" b="34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实施步骤详解：N8N 工作流搭建（数据采集）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2247" r="2247"/>
          <a:stretch>
            <a:fillRect/>
          </a:stretch>
        </p:blipFill>
        <p:spPr>
          <a:xfrm>
            <a:off x="1016000" y="1778000"/>
            <a:ext cx="4318000" cy="2540000"/>
          </a:xfrm>
          <a:prstGeom prst="rect">
            <a:avLst/>
          </a:prstGeom>
          <a:noFill/>
          <a:ln w="25400" cap="flat" cmpd="sng">
            <a:solidFill>
              <a:srgbClr val="39FF14">
                <a:alpha val="80000"/>
              </a:srgbClr>
            </a:solidFill>
            <a:prstDash val="solid"/>
            <a:round/>
          </a:ln>
          <a:effectLst>
            <a:outerShdw blurRad="190500" dist="63500" dir="2700000" algn="tl" rotWithShape="0">
              <a:srgbClr val="39FF14">
                <a:alpha val="3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1016000" y="4572000"/>
            <a:ext cx="4318000" cy="1016000"/>
          </a:xfrm>
          <a:prstGeom prst="roundRect">
            <a:avLst>
              <a:gd name="adj" fmla="val 12500"/>
            </a:avLst>
          </a:prstGeom>
          <a:solidFill>
            <a:srgbClr val="39FF14">
              <a:alpha val="10000"/>
            </a:srgbClr>
          </a:solidFill>
          <a:ln w="12700" cap="flat" cmpd="sng">
            <a:solidFill>
              <a:srgbClr val="39FF1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" y="4699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核心目标：Stock_Data_Collector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每日盘后自动抓取股票数据，生成标准化JSON</a:t>
            </a:r>
            <a:endParaRPr lang="en-US" sz="1200" b="0" i="0" u="none" strike="noStrike">
              <a:solidFill>
                <a:srgbClr val="E5E7E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715000" y="1778000"/>
            <a:ext cx="5461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9000" y="20066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731000" y="19050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 触发器设置 (Cron)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配置 0 19 * * 1-5，周一至周五晚19点自动启动</a:t>
            </a:r>
            <a:endParaRPr lang="en-US" sz="13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715000" y="2984500"/>
            <a:ext cx="5461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9000" y="32131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731000" y="31115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 获取股票代码列表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通过HTTP请求或本地文件读取待分析的标的清单</a:t>
            </a:r>
            <a:endParaRPr lang="en-US" sz="13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715000" y="4191000"/>
            <a:ext cx="5461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69000" y="44196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31000" y="43180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 批量抓取行情与财务数据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遍历列表，调用API并行获取每只股票的详细信息</a:t>
            </a:r>
            <a:endParaRPr lang="en-US" sz="13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715000" y="5397500"/>
            <a:ext cx="5461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69000" y="56261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731000" y="55245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4. 数据清洗与整合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将分散数据统一整理为JSON格式，输出给AI分析模块</a:t>
            </a:r>
            <a:endParaRPr lang="en-US" sz="13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9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实施步骤详解：OpenClaw 智能分析服务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39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4826000" cy="3556000"/>
          </a:xfrm>
          <a:prstGeom prst="roundRect">
            <a:avLst>
              <a:gd name="adj" fmla="val 4285"/>
            </a:avLst>
          </a:prstGeom>
          <a:solidFill>
            <a:srgbClr val="FFFFFF">
              <a:alpha val="3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l="3846" r="3846"/>
          <a:stretch>
            <a:fillRect/>
          </a:stretch>
        </p:blipFill>
        <p:spPr>
          <a:xfrm>
            <a:off x="1143000" y="1905000"/>
            <a:ext cx="4572000" cy="3302000"/>
          </a:xfrm>
          <a:prstGeom prst="roundRect">
            <a:avLst>
              <a:gd name="adj" fmla="val 461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101600" dir="27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8" name="AutoShape 8"/>
          <p:cNvSpPr/>
          <p:nvPr/>
        </p:nvSpPr>
        <p:spPr>
          <a:xfrm>
            <a:off x="1016000" y="5461000"/>
            <a:ext cx="4826000" cy="508000"/>
          </a:xfrm>
          <a:prstGeom prst="roundRect">
            <a:avLst>
              <a:gd name="adj" fmla="val 15000"/>
            </a:avLst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AI 驱动的量化选股核心引擎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4953000" cy="952500"/>
          </a:xfrm>
          <a:prstGeom prst="roundRect">
            <a:avLst>
              <a:gd name="adj" fmla="val 10666"/>
            </a:avLst>
          </a:prstGeom>
          <a:gradFill rotWithShape="1">
            <a:gsLst>
              <a:gs pos="0">
                <a:srgbClr val="39FF14">
                  <a:alpha val="10000"/>
                </a:srgbClr>
              </a:gs>
              <a:gs pos="100000">
                <a:srgbClr val="39FF14">
                  <a:alpha val="2000"/>
                </a:srgbClr>
              </a:gs>
            </a:gsLst>
            <a:lin ang="0"/>
          </a:gra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190500" tIns="0" rIns="19050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核心目标：</a:t>
            </a: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创建 StockAnalyzer 智能 Agent，执行复杂量化选股逻辑。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921000"/>
            <a:ext cx="4953000" cy="1206500"/>
          </a:xfrm>
          <a:prstGeom prst="roundRect">
            <a:avLst>
              <a:gd name="adj" fmla="val 8421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0" y="3175000"/>
            <a:ext cx="698500" cy="698500"/>
          </a:xfrm>
          <a:prstGeom prst="ellipse">
            <a:avLst/>
          </a:prstGeom>
          <a:solidFill>
            <a:srgbClr val="39FF1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9400" y="33274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66000" y="3048000"/>
            <a:ext cx="361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创建选股 Agent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System Prompt 定义策略规则（如PE&lt;20，营收增长&gt;15%），赋予Agent专业选股大脑。</a:t>
            </a:r>
            <a:endParaRPr lang="en-US" sz="13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4254500"/>
            <a:ext cx="4953000" cy="1206500"/>
          </a:xfrm>
          <a:prstGeom prst="roundRect">
            <a:avLst>
              <a:gd name="adj" fmla="val 8421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4508500"/>
            <a:ext cx="698500" cy="698500"/>
          </a:xfrm>
          <a:prstGeom prst="ellipse">
            <a:avLst/>
          </a:prstGeom>
          <a:solidFill>
            <a:srgbClr val="39FF1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9400" y="46609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66000" y="4381500"/>
            <a:ext cx="3619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编写分析工具 (Tools)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编写自定义代码处理复杂计算，弥补LLM短板，精准计算20日均线、RSI等关键技术指标。</a:t>
            </a:r>
            <a:endParaRPr lang="en-US" sz="1300" b="0" i="0" u="none" strike="noStrike">
              <a:solidFill>
                <a:srgbClr val="94A3B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5651500"/>
            <a:ext cx="4953000" cy="381000"/>
          </a:xfrm>
          <a:prstGeom prst="roundRect">
            <a:avLst>
              <a:gd name="adj" fmla="val 0"/>
            </a:avLst>
          </a:prstGeom>
          <a:solidFill>
            <a:srgbClr val="39FF1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100">
                <a:solidFill>
                  <a:srgbClr val="39FF14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高效决策 · 精准计算 · 智能迭代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000" t="2131" r="2000" b="195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C121E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787400"/>
            <a:ext cx="76200" cy="4064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r="2700000" algn="tl" rotWithShape="0">
              <a:srgbClr val="39FF14">
                <a:alpha val="6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实施步骤详解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4605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步骤三：N8N 与 OpenClaw 联动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095500"/>
            <a:ext cx="1016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2286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68500" y="2184400"/>
            <a:ext cx="901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核心目标：将 N8N 收集的原始数据发送给 OpenClaw 进行专业量化分析，并准确接收返回的筛选结果，形成闭环。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238500"/>
            <a:ext cx="4953000" cy="2286000"/>
          </a:xfrm>
          <a:prstGeom prst="roundRect">
            <a:avLst>
              <a:gd name="adj" fmla="val 6666"/>
            </a:avLst>
          </a:prstGeom>
          <a:gradFill rotWithShape="1"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2000"/>
                </a:srgbClr>
              </a:gs>
            </a:gsLst>
            <a:lin ang="2700000"/>
          </a:gra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397000" y="3556000"/>
            <a:ext cx="812800" cy="8128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49400" y="37084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413000" y="3492500"/>
            <a:ext cx="330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调用 OpenClaw Agent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 N8N 工作流中添加 HTTP Request 节点，向 OpenClaw API 发送 POST 请求，传递标准化的股票数据。</a:t>
            </a:r>
            <a:endParaRPr lang="en-US" sz="1400" b="0" i="0" u="none" strike="noStrike">
              <a:solidFill>
                <a:srgbClr val="DCDCDC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3238500"/>
            <a:ext cx="4953000" cy="2286000"/>
          </a:xfrm>
          <a:prstGeom prst="roundRect">
            <a:avLst>
              <a:gd name="adj" fmla="val 6666"/>
            </a:avLst>
          </a:prstGeom>
          <a:gradFill rotWithShape="1"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2000"/>
                </a:srgbClr>
              </a:gs>
            </a:gsLst>
            <a:lin ang="2700000"/>
          </a:gra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604000" y="3556000"/>
            <a:ext cx="812800" cy="8128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56400" y="37084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620000" y="3492500"/>
            <a:ext cx="330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处理返回结果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DCDCDC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使用 Function 或 Set 节点解析 JSON 格式的返回数据，清洗并提取出最终的选股列表，为推送环节做准备。</a:t>
            </a:r>
            <a:endParaRPr lang="en-US" sz="1400" b="0" i="0" u="none" strike="noStrike">
              <a:solidFill>
                <a:srgbClr val="DCDCDC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8" name="Connector 18"/>
          <p:cNvCxnSpPr/>
          <p:nvPr/>
        </p:nvCxnSpPr>
        <p:spPr>
          <a:xfrm rot="-4297">
            <a:off x="1016004" y="5772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9FF1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1016000" y="5905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EC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关键价值：通过自动化的接口调用与精准的数据解析，打通数据采集与量化分析的“最后一公里”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2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846" t="3760" r="3846" b="3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实施步骤详解 | 飞书实时推送（结果触达）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3175000" cy="3683000"/>
          </a:xfrm>
          <a:prstGeom prst="roundRect">
            <a:avLst>
              <a:gd name="adj" fmla="val 480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39FF14">
                <a:alpha val="6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39FF14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917700" y="2159000"/>
            <a:ext cx="1371600" cy="13716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71700" y="2413000"/>
            <a:ext cx="863600" cy="863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06500" y="3683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06500" y="4191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将自动化流程产生的最终选股结果格式化，实时发送至指定飞书群组。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08500" y="1778000"/>
            <a:ext cx="3175000" cy="3683000"/>
          </a:xfrm>
          <a:prstGeom prst="roundRect">
            <a:avLst>
              <a:gd name="adj" fmla="val 480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39FF14">
                <a:alpha val="6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39FF14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410200" y="2159000"/>
            <a:ext cx="1371600" cy="13716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4200" y="2413000"/>
            <a:ext cx="863600" cy="863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699000" y="3683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01 添加节点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4191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在N8N工作流中引入“Feishu - Bot”节点，并完成机器人账号的授权验证。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1778000"/>
            <a:ext cx="3175000" cy="3683000"/>
          </a:xfrm>
          <a:prstGeom prst="roundRect">
            <a:avLst>
              <a:gd name="adj" fmla="val 480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39FF14">
                <a:alpha val="6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39FF14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902700" y="2159000"/>
            <a:ext cx="1371600" cy="1371600"/>
          </a:xfrm>
          <a:prstGeom prst="ellipse">
            <a:avLst/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56700" y="2413000"/>
            <a:ext cx="863600" cy="863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191500" y="3683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02 内容配置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91500" y="4191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使用N8N模板语法将数据转化为清晰文本，设定发送对象为指定群聊或个人。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5842000"/>
            <a:ext cx="10160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9FF14">
                  <a:alpha val="0"/>
                </a:srgbClr>
              </a:gs>
              <a:gs pos="50000">
                <a:srgbClr val="39FF14">
                  <a:alpha val="100000"/>
                </a:srgbClr>
              </a:gs>
              <a:gs pos="100000">
                <a:srgbClr val="39FF14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59944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4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通过自动化触达，实现从数据计算到结果通知的完整闭环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000" t="2127" r="2000" b="21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前置准备与环境配置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1016032" y="1454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39FF14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016000" y="1778000"/>
            <a:ext cx="4826000" cy="4064000"/>
          </a:xfrm>
          <a:prstGeom prst="roundRect">
            <a:avLst>
              <a:gd name="adj" fmla="val 3125"/>
            </a:avLst>
          </a:prstGeom>
          <a:solidFill>
            <a:srgbClr val="1E2328">
              <a:alpha val="95000"/>
            </a:srgbClr>
          </a:solidFill>
          <a:ln w="25400" cap="flat" cmpd="sng">
            <a:solidFill>
              <a:srgbClr val="39FF14">
                <a:alpha val="10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39FF14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7000" y="2159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159000" y="2222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核心配置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97000" y="2984500"/>
            <a:ext cx="4064000" cy="2032000"/>
          </a:xfrm>
          <a:prstGeom prst="roundRect">
            <a:avLst>
              <a:gd name="adj" fmla="val 3125"/>
            </a:avLst>
          </a:prstGeom>
          <a:solidFill>
            <a:srgbClr val="000000">
              <a:alpha val="60000"/>
            </a:srgbClr>
          </a:solidFill>
          <a:ln w="12700" cap="flat" cmpd="sng">
            <a:solidFill>
              <a:srgbClr val="64646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524000" y="3111500"/>
            <a:ext cx="381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{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"llm": { "provider": "deepseek", "apiKey": "sk-xxx..." },</a:t>
            </a:r>
            <a:endParaRPr lang="en-US" sz="1200" b="0" i="0" u="none" strike="noStrike">
              <a:solidFill>
                <a:srgbClr val="A0AEC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"tools": { "n8n": { "apiKey": "..." }, "feishu": { ... } }</a:t>
            </a:r>
            <a:endParaRPr lang="en-US" sz="1200" b="0" i="0" u="none" strike="noStrike">
              <a:solidFill>
                <a:srgbClr val="A0AEC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A0AEC0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  <a:endParaRPr lang="en-US" sz="1200" b="0" i="0" u="none" strike="noStrike">
              <a:solidFill>
                <a:srgbClr val="A0AEC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397000" y="5207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路径：/agents.defaults.json (务必替换真实密钥)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1778000"/>
            <a:ext cx="4826000" cy="4064000"/>
          </a:xfrm>
          <a:prstGeom prst="roundRect">
            <a:avLst>
              <a:gd name="adj" fmla="val 3125"/>
            </a:avLst>
          </a:prstGeom>
          <a:solidFill>
            <a:srgbClr val="1E2328">
              <a:alpha val="95000"/>
            </a:srgbClr>
          </a:solidFill>
          <a:ln w="25400" cap="flat" cmpd="sng">
            <a:solidFill>
              <a:srgbClr val="39FF14">
                <a:alpha val="10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39FF14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2159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493000" y="2222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环境依赖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731000" y="2984500"/>
            <a:ext cx="4064000" cy="2032000"/>
          </a:xfrm>
          <a:prstGeom prst="roundRect">
            <a:avLst>
              <a:gd name="adj" fmla="val 3125"/>
            </a:avLst>
          </a:prstGeom>
          <a:solidFill>
            <a:srgbClr val="000000">
              <a:alpha val="60000"/>
            </a:srgbClr>
          </a:solidFill>
          <a:ln w="12700" cap="flat" cmpd="sng">
            <a:solidFill>
              <a:srgbClr val="64646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858000" y="3111500"/>
            <a:ext cx="381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pip install pandas numpy yfinance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FFDA"/>
                </a:solidFill>
                <a:latin typeface="Noto Sans SC"/>
                <a:ea typeface="Noto Sans SC"/>
                <a:cs typeface="Noto Sans SC"/>
                <a:sym typeface="Noto Sans SC"/>
              </a:rPr>
              <a:t>pip install ta-lib scikit-learn</a:t>
            </a:r>
            <a:endParaRPr lang="en-US" sz="1300" b="0" i="0" u="none" strike="noStrike">
              <a:solidFill>
                <a:srgbClr val="64FFDA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# 确保Python 3.9+ 环境运行</a:t>
            </a:r>
            <a:endParaRPr lang="en-US" sz="1200" b="0" i="0" u="none" strike="noStrike">
              <a:solidFill>
                <a:srgbClr val="FFFFFF">
                  <a:alpha val="6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731000" y="5207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📦 数据处理与量化分析库一键安装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6096000"/>
            <a:ext cx="10160000" cy="508000"/>
          </a:xfrm>
          <a:prstGeom prst="roundRect">
            <a:avLst>
              <a:gd name="adj" fmla="val 25000"/>
            </a:avLst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61976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核心提示：配置文件是系统运行的"通行证"，缺失密钥将导致服务调用失败。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846" t="3760" r="3846" b="3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8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863600"/>
            <a:ext cx="101600" cy="4064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762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 系统稳定性与运维建议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t="6666" b="7058"/>
          <a:stretch>
            <a:fillRect/>
          </a:stretch>
        </p:blipFill>
        <p:spPr>
          <a:xfrm>
            <a:off x="1016000" y="1778000"/>
            <a:ext cx="4318000" cy="2794000"/>
          </a:xfrm>
          <a:prstGeom prst="roundRect">
            <a:avLst>
              <a:gd name="adj" fmla="val 6818"/>
            </a:avLst>
          </a:prstGeom>
          <a:noFill/>
          <a:ln w="25400" cap="flat" cmpd="sng">
            <a:solidFill>
              <a:srgbClr val="39FF14">
                <a:alpha val="8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39FF14">
                <a:alpha val="25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1016000" y="4762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全方位监控与运维保障体系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Multi-dimensional Monitoring &amp; Maintenance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715000" y="1778000"/>
            <a:ext cx="5461000" cy="1206500"/>
          </a:xfrm>
          <a:prstGeom prst="roundRect">
            <a:avLst>
              <a:gd name="adj" fmla="val 1052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2500" y="2057400"/>
            <a:ext cx="635000" cy="635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858000" y="1905000"/>
            <a:ext cx="4127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健康监控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配置health-monitor监控进程心跳，定期执行openclaw doctor检查环境依赖完整性。</a:t>
            </a:r>
            <a:endParaRPr lang="en-US" sz="1300" b="0" i="0" u="none" strike="noStrike">
              <a:solidFill>
                <a:srgbClr val="E6E6E6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715000" y="3111500"/>
            <a:ext cx="5461000" cy="1206500"/>
          </a:xfrm>
          <a:prstGeom prst="roundRect">
            <a:avLst>
              <a:gd name="adj" fmla="val 1052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2500" y="33909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858000" y="3238500"/>
            <a:ext cx="4127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N8N 核心运维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严格管理端口避免冲突，建立自动化机制定期备份工作流JSON文件以防数据丢失。</a:t>
            </a:r>
            <a:endParaRPr lang="en-US" sz="1300" b="0" i="0" u="none" strike="noStrike">
              <a:solidFill>
                <a:srgbClr val="E6E6E6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715000" y="4445000"/>
            <a:ext cx="5461000" cy="1206500"/>
          </a:xfrm>
          <a:prstGeom prst="roundRect">
            <a:avLst>
              <a:gd name="adj" fmla="val 1052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39FF1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2500" y="4724400"/>
            <a:ext cx="635000" cy="635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858000" y="4572000"/>
            <a:ext cx="4127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模型与API风控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优选高稳定性LLM模型，实时监控API调用额度与速率限制，防止因调用超限导致工作流中断。</a:t>
            </a:r>
            <a:endParaRPr lang="en-US" sz="1300" b="0" i="0" u="none" strike="noStrike">
              <a:solidFill>
                <a:srgbClr val="E6E6E6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016000" y="5969000"/>
            <a:ext cx="10160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9FF14">
                  <a:alpha val="0"/>
                </a:srgbClr>
              </a:gs>
              <a:gs pos="50000">
                <a:srgbClr val="39FF14">
                  <a:alpha val="100000"/>
                </a:srgbClr>
              </a:gs>
              <a:gs pos="100000">
                <a:srgbClr val="39FF14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125" t="3125" r="3125" b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07 总结与展望 | 智能选股系统回顾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397000"/>
            <a:ext cx="10160000" cy="381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r="2700000" algn="tl" rotWithShape="0">
              <a:srgbClr val="39FF14">
                <a:alpha val="6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4826000" cy="4191000"/>
          </a:xfrm>
          <a:prstGeom prst="roundRect">
            <a:avLst>
              <a:gd name="adj" fmla="val 3030"/>
            </a:avLst>
          </a:prstGeom>
          <a:solidFill>
            <a:srgbClr val="1E293B">
              <a:alpha val="70000"/>
            </a:srgbClr>
          </a:solidFill>
          <a:ln w="12700" cap="flat" cmpd="sng">
            <a:solidFill>
              <a:srgbClr val="39FF14">
                <a:alpha val="4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7000" y="2159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159000" y="22352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核心架构与价值落地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97000" y="3048000"/>
            <a:ext cx="4064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4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N8N + OpenClaw + LangChain + 飞书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架构，成功打造高效智能的自动化选股系统。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不仅解决了传统投研中数据处理效率低下的痛点，更通过引入AI能力，显著提升了决策的科学性与客观性。</a:t>
            </a:r>
            <a:endParaRPr lang="en-US" sz="1400" b="0" i="0" u="none" strike="noStrike">
              <a:solidFill>
                <a:srgbClr val="E5E7E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2349500" cy="1968500"/>
          </a:xfrm>
          <a:prstGeom prst="roundRect">
            <a:avLst>
              <a:gd name="adj" fmla="val 6451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32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477000" y="2603500"/>
            <a:ext cx="184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策略深度优化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引入多因子模型与机器学习算法，融合舆情等非结构化数据。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763000" y="1778000"/>
            <a:ext cx="2349500" cy="1968500"/>
          </a:xfrm>
          <a:prstGeom prst="roundRect">
            <a:avLst>
              <a:gd name="adj" fmla="val 6451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17000" y="2032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017000" y="2603500"/>
            <a:ext cx="184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历史回测验证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集成回测模块，对策略历史表现进行多维度复盘与迭代。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3937000"/>
            <a:ext cx="2349500" cy="1968500"/>
          </a:xfrm>
          <a:prstGeom prst="roundRect">
            <a:avLst>
              <a:gd name="adj" fmla="val 6451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191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477000" y="4762500"/>
            <a:ext cx="184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可视化看板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定制仪表盘直观展示选股结果与股票池实时动态表现。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763000" y="3937000"/>
            <a:ext cx="2349500" cy="1968500"/>
          </a:xfrm>
          <a:prstGeom prst="roundRect">
            <a:avLst>
              <a:gd name="adj" fmla="val 6451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17000" y="41910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017000" y="4762500"/>
            <a:ext cx="184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自动交易执行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对接券商API，打通从智能选股到自动下单的全流程闭环。</a:t>
            </a:r>
            <a:endParaRPr lang="en-US" sz="1200" b="0" i="0" u="none" strike="noStrike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0" y="6477000"/>
            <a:ext cx="12192000" cy="381000"/>
          </a:xfrm>
          <a:prstGeom prst="roundRect">
            <a:avLst>
              <a:gd name="adj" fmla="val 0"/>
            </a:avLst>
          </a:prstGeom>
          <a:solidFill>
            <a:srgbClr val="39FF1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0" y="6502400"/>
            <a:ext cx="1219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Tech for Investment · 智胜未来市场 2026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0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8000" y="1524000"/>
            <a:ext cx="1016000" cy="1016000"/>
          </a:xfrm>
          <a:prstGeom prst="rect">
            <a:avLst/>
          </a:prstGeom>
          <a:effectLst>
            <a:outerShdw blurRad="254000" dir="2700000" algn="tl" rotWithShape="0">
              <a:srgbClr val="39FF14">
                <a:alpha val="5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1016000" y="279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60000"/>
              </a:srgbClr>
            </a:outerShdw>
          </a:effectLst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600" b="1" i="0" u="none" strike="noStrike" spc="400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 互动问答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810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spc="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感谢您的聆听与关注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86000" y="4699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欢迎各位提出宝贵的意见与建议，期待与您深入交流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39FF1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4029</Words>
  <Application>WPS 演示</Application>
  <PresentationFormat/>
  <Paragraphs>355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宋体</vt:lpstr>
      <vt:lpstr>Wingdings</vt:lpstr>
      <vt:lpstr>Arial</vt:lpstr>
      <vt:lpstr>Noto Sans SC</vt:lpstr>
      <vt:lpstr>Segoe Print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WPS_1739440161</cp:lastModifiedBy>
  <cp:revision>1</cp:revision>
  <dcterms:created xsi:type="dcterms:W3CDTF">2026-03-29T15:00:08Z</dcterms:created>
  <dcterms:modified xsi:type="dcterms:W3CDTF">2026-03-29T15:00:09Z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0D6025579B964E1291B5E96585F73DC7_13</vt:lpwstr>
  </property>
  <property fmtid="{D5CDD505-2E9C-101B-9397-08002B2CF9AE}" pid="3" name="KSOProductBuildVer">
    <vt:lpwstr>2052-12.1.0.21915</vt:lpwstr>
  </property>
</Properties>
</file>